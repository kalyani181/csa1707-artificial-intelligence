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7" r:id="rId4"/>
    <p:sldId id="258" r:id="rId5"/>
    <p:sldId id="275" r:id="rId6"/>
    <p:sldId id="277" r:id="rId7"/>
    <p:sldId id="278" r:id="rId8"/>
    <p:sldId id="272" r:id="rId9"/>
    <p:sldId id="259" r:id="rId10"/>
    <p:sldId id="260" r:id="rId11"/>
    <p:sldId id="261" r:id="rId12"/>
    <p:sldId id="262" r:id="rId13"/>
    <p:sldId id="263" r:id="rId14"/>
    <p:sldId id="266" r:id="rId15"/>
    <p:sldId id="267" r:id="rId16"/>
    <p:sldId id="271" r:id="rId17"/>
    <p:sldId id="268" r:id="rId18"/>
    <p:sldId id="269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444" autoAdjust="0"/>
  </p:normalViewPr>
  <p:slideViewPr>
    <p:cSldViewPr snapToGrid="0">
      <p:cViewPr varScale="1">
        <p:scale>
          <a:sx n="69" d="100"/>
          <a:sy n="69" d="100"/>
        </p:scale>
        <p:origin x="12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79612-156C-FC94-54CE-4D0B18BEB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DB781-4F6E-DA47-EDCD-72F4738E8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58124-9EA7-4B73-A581-B04EDE472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3E36-A068-450D-80F9-D8F7618EDA5D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6025F-2F6A-44B2-B847-D157CEB04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D8965-1EF1-78A0-2DBA-081797B0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20EF-AB78-4F77-814D-69DEC065B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89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B08BB-E554-0310-A309-4A5AA93C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C0BF9-C17C-240E-83A0-6BCD10B91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E298-4BBF-8499-7AA9-2DDC0848B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3E36-A068-450D-80F9-D8F7618EDA5D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DFF37-8CC7-4533-722B-FB1666117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AB392-200B-E931-EC2D-A5262D1B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20EF-AB78-4F77-814D-69DEC065B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886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E8662-5F70-35FF-8D41-E9325CD9F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928BC-2535-A6F1-1912-4FBB07CA7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6D6CD-8210-1318-9C6E-6DBC8DE5C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3E36-A068-450D-80F9-D8F7618EDA5D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6BC22-6378-E93D-F7D7-9D6DCA4A0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0C343-1C18-C218-7EF3-7B620C07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20EF-AB78-4F77-814D-69DEC065B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24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DF67C-133F-D1AE-895D-CC61215A2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0A53B-952C-AE75-C6B0-DF0A8C790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C816F-4865-5ED5-9996-C650FC4AD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D65B5-B913-F276-EFDA-A81355434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3E36-A068-450D-80F9-D8F7618EDA5D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99A1A-2BEA-9339-3427-B72E5CC7F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6CFAF-712C-D84A-DCC0-3D38B8FC2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20EF-AB78-4F77-814D-69DEC065B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99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03CC-7973-5F76-B0FE-9B7550A5A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FF27B-DCC4-7CE5-824A-6507C60D9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0C507-12F7-6AD7-9190-B6021D66D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29FCFE-EADC-CB9D-0EAA-7FE24F5D7E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21199-DAE7-CEFD-B8D1-F316CE0FA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39CF0-B322-2291-EF6E-CDE4B2557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3E36-A068-450D-80F9-D8F7618EDA5D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9EAAB-A96F-C8ED-FEE2-CED7A6C6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19982A-6D3A-D89A-7AB9-C7B7B6B3F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20EF-AB78-4F77-814D-69DEC065B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58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8DE8-F421-8478-2853-5A7C641CB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EC49D0-26CF-0B01-2F16-85546754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3E36-A068-450D-80F9-D8F7618EDA5D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6F254-5BDB-1472-6677-A5694042F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D0CC9-D426-BE8A-F10E-A7CCD411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20EF-AB78-4F77-814D-69DEC065B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244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AE260-0ACF-05A7-14E6-F9E095DC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3E36-A068-450D-80F9-D8F7618EDA5D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C59DD0-E040-27B0-ADDA-A346C0560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209F0-EB26-0FF4-6A3A-90D81BAC6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20EF-AB78-4F77-814D-69DEC065B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02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7A734-FEE5-7854-D0CD-6A5E32333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C61A5-EED1-6113-84DA-83A6F5556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31DFD-F984-282E-F47F-B26221053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CA20E-5817-0EC7-BEA8-1F1EFDFF6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3E36-A068-450D-80F9-D8F7618EDA5D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6B6AE-757C-C4EA-1640-0F2DB414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6F45A-ADB7-BD17-DFF6-3C9EB299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20EF-AB78-4F77-814D-69DEC065B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10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D11B-71A4-2D7B-4697-4B29F2AC9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BC2368-D8F9-8207-C0E8-DEBCE594BC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A857B-DDCF-A812-75FD-FE524682B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EBFDD-8A58-DDCB-0E11-0C557E8FB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3E36-A068-450D-80F9-D8F7618EDA5D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616E4-427D-88E6-AB1F-B0738BB9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4F254-1F9A-9396-5006-83E1DC34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20EF-AB78-4F77-814D-69DEC065B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083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9755-FBF1-89C1-C928-EBA60E68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84D37-ACFF-F7DD-9AAD-D5184A443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BA5E3-83C6-2C98-8516-19A1866F0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3E36-A068-450D-80F9-D8F7618EDA5D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51D3-80D2-5E25-E866-17325602E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668A9-3CE0-2408-FDD8-C2E8B51B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20EF-AB78-4F77-814D-69DEC065B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975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E3F481-AF1F-9671-D85C-4C35DBF1D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C6DCF-85D0-FA9A-1921-FC26C52DD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F8C7D-D0B4-978C-4056-5761B20F1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3E36-A068-450D-80F9-D8F7618EDA5D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B0AAC-9A86-2F58-9A52-48A60589B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6872B-F3A9-9308-36E2-F8354D06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920EF-AB78-4F77-814D-69DEC065B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53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C373F-C193-F459-6217-BFF453AED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6FDEC-3548-77AA-FF9D-9C3E79EAD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22298-B5C3-06CA-D127-EDD0E9F11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13E36-A068-450D-80F9-D8F7618EDA5D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1FE40-565E-F02B-76D4-8FE23713B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14F16-1F9D-82EA-ABC9-297210FA7E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920EF-AB78-4F77-814D-69DEC065B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78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B714B2-E5DF-DBA3-BAF2-A2FCA4200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52320"/>
            <a:ext cx="9144000" cy="2285504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Water Based Demand Forecasting and Resource Optimization System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CSA1707 - ARTIFICIAL INTELLIGENCE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9699A8-05DC-4405-D849-4F0163C92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16" y="303035"/>
            <a:ext cx="1118824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CC653B-C5B6-BDC3-7040-6CB123A4D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3120" y="303035"/>
            <a:ext cx="83860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1F0BFF-4D72-2204-3EE9-F15F480C0F23}"/>
              </a:ext>
            </a:extLst>
          </p:cNvPr>
          <p:cNvSpPr txBox="1"/>
          <p:nvPr/>
        </p:nvSpPr>
        <p:spPr>
          <a:xfrm>
            <a:off x="2346960" y="303035"/>
            <a:ext cx="72745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SIMATS ENGINEERING</a:t>
            </a:r>
          </a:p>
          <a:p>
            <a:r>
              <a:rPr lang="en-US" sz="28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Saveetha Institute of Medical and Technical S</a:t>
            </a:r>
          </a:p>
          <a:p>
            <a:r>
              <a:rPr lang="en-US" sz="28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               </a:t>
            </a:r>
            <a:r>
              <a:rPr lang="en-US" sz="2800" b="1" dirty="0">
                <a:latin typeface="Times New Roman"/>
                <a:ea typeface="Calibri"/>
                <a:cs typeface="Times New Roman"/>
              </a:rPr>
              <a:t>Chennai-602105.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1A384-446E-5F58-A7D2-671316486F5E}"/>
              </a:ext>
            </a:extLst>
          </p:cNvPr>
          <p:cNvSpPr txBox="1"/>
          <p:nvPr/>
        </p:nvSpPr>
        <p:spPr>
          <a:xfrm>
            <a:off x="802028" y="4685087"/>
            <a:ext cx="6094140" cy="118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sz="2400" spc="-25" dirty="0">
                <a:latin typeface="Times New Roman" panose="02020603050405020304"/>
                <a:cs typeface="Times New Roman" panose="02020603050405020304"/>
              </a:rPr>
              <a:t>. </a:t>
            </a:r>
            <a:r>
              <a:rPr lang="en-US" sz="2400" spc="-25" dirty="0" err="1">
                <a:latin typeface="Times New Roman" panose="02020603050405020304"/>
                <a:cs typeface="Times New Roman" panose="02020603050405020304"/>
              </a:rPr>
              <a:t>R.Veeramani</a:t>
            </a:r>
            <a:endParaRPr lang="en-US" sz="2400" spc="-25" dirty="0">
              <a:latin typeface="Times New Roman" panose="02020603050405020304"/>
              <a:cs typeface="Times New Roman" panose="02020603050405020304"/>
            </a:endParaRPr>
          </a:p>
          <a:p>
            <a:endParaRPr lang="en-IN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3AFCC6-1E33-E2DE-A0CD-AB4B9FC966B6}"/>
              </a:ext>
            </a:extLst>
          </p:cNvPr>
          <p:cNvSpPr txBox="1"/>
          <p:nvPr/>
        </p:nvSpPr>
        <p:spPr>
          <a:xfrm>
            <a:off x="7537233" y="4236007"/>
            <a:ext cx="416857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Presented By: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Venkatesh (192212267)</a:t>
            </a:r>
            <a:endParaRPr lang="en-IN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 Hema Chowdary(192473014)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Kalyani (192472199)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52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1564" y="604904"/>
            <a:ext cx="7497064" cy="866006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246888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b="1" spc="-1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811139" y="6474967"/>
            <a:ext cx="56451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10"/>
              <a:t>EEA1306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304778" y="6474967"/>
            <a:ext cx="244093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2</a:t>
            </a:fld>
            <a:endParaRPr spc="-50" dirty="0"/>
          </a:p>
        </p:txBody>
      </p:sp>
      <p:sp>
        <p:nvSpPr>
          <p:cNvPr id="7" name="Text Box 6"/>
          <p:cNvSpPr txBox="1"/>
          <p:nvPr/>
        </p:nvSpPr>
        <p:spPr>
          <a:xfrm>
            <a:off x="416929" y="2307018"/>
            <a:ext cx="10096765" cy="402443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Content Body"/>
          <p:cNvSpPr>
            <a:spLocks noGrp="1"/>
          </p:cNvSpPr>
          <p:nvPr>
            <p:ph type="body" idx="1"/>
          </p:nvPr>
        </p:nvSpPr>
        <p:spPr>
          <a:xfrm>
            <a:off x="1079753" y="2369634"/>
            <a:ext cx="10591800" cy="470000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predicts water demand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past consumption, weather, and demographic data.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water distribution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pumping schedules across different zones.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abnormal usage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potential water leakages in near real time.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operators monitor demand and make faster decisions.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water loss, improve supply reliability, and use resources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0C6A1-42D7-E67B-7A0E-CACC82F0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40" y="289560"/>
            <a:ext cx="6339841" cy="1036955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ECA6D-7DA2-919D-8BBE-B15548577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740" y="1734184"/>
            <a:ext cx="5615715" cy="475869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is a limited resource that requires efficient management due to increasing demand.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water management methods are inefficient and cannot accurately predict future.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analyzes large amounts of water-related data such as usage, weather areas.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predicts future water demand to prevent shortages and overuse.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DE4A9C-CC2A-700D-EEE1-33CA1F3A1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36" y="365125"/>
            <a:ext cx="1118824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45F771-0383-0B83-2638-40A8829FA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499" y="350838"/>
            <a:ext cx="83860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BA176F-C8F2-823C-9AA7-7285F63AA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724" y="1886673"/>
            <a:ext cx="5287113" cy="387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03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4673A-4613-9C89-16D4-974E63B14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32" y="204878"/>
            <a:ext cx="8514080" cy="1325563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408B5-A489-9A7E-450F-29E275934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940" y="1795645"/>
            <a:ext cx="10022840" cy="4108228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Unpredictable water demand leads to water shortages in some areas and wastage in others.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accurate forecasting methods makes it difficult to plan and manage water resources effectively.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population growth and urbanization increase pressure on existing water supply systems.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 and irregular rainfall patterns affect water availability and storage planning.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water distribution systems result in water loss, higher costs, and unsustainable usage.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79948-F3BC-FA37-C16E-6A4A89B44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76" y="365125"/>
            <a:ext cx="1139144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11E30C-78D7-E02F-F336-B7F558BFC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499" y="350838"/>
            <a:ext cx="83860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496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4097" y="486119"/>
            <a:ext cx="7497064" cy="742896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2054225">
              <a:lnSpc>
                <a:spcPct val="100000"/>
              </a:lnSpc>
              <a:spcBef>
                <a:spcPts val="105"/>
              </a:spcBef>
            </a:pPr>
            <a:r>
              <a:rPr lang="en-US" sz="36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600" b="1" spc="-1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304778" y="6474967"/>
            <a:ext cx="244093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5</a:t>
            </a:fld>
            <a:endParaRPr spc="-50" dirty="0"/>
          </a:p>
        </p:txBody>
      </p:sp>
      <p:sp>
        <p:nvSpPr>
          <p:cNvPr id="7" name="Text Box 6"/>
          <p:cNvSpPr txBox="1"/>
          <p:nvPr/>
        </p:nvSpPr>
        <p:spPr>
          <a:xfrm>
            <a:off x="356870" y="1524000"/>
            <a:ext cx="11676378" cy="498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Content Body"/>
          <p:cNvSpPr>
            <a:spLocks noGrp="1"/>
          </p:cNvSpPr>
          <p:nvPr>
            <p:ph type="body" idx="1"/>
          </p:nvPr>
        </p:nvSpPr>
        <p:spPr>
          <a:xfrm>
            <a:off x="800100" y="1600200"/>
            <a:ext cx="10591800" cy="4700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machine learning model that forecasts short-term and long-term water demand at a zone level.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resource optimization module that plans efficient distribution and pump scheduling based on forecasted demand.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anomalies and possible leakages through consumption pattern analysis.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 interactive dashboard that visualizes forecasts, resource allocation, and alerts for utility operators.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non-revenue water loss and improve the overall efficiency and reliability of the water supply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2607" y="584212"/>
            <a:ext cx="7497064" cy="804451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2054225">
              <a:lnSpc>
                <a:spcPct val="100000"/>
              </a:lnSpc>
              <a:spcBef>
                <a:spcPts val="105"/>
              </a:spcBef>
            </a:pPr>
            <a:r>
              <a:rPr lang="en-US" sz="40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sz="4000" b="1" spc="-1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811139" y="6474967"/>
            <a:ext cx="56451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10"/>
              <a:t>EEA1306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304778" y="6474967"/>
            <a:ext cx="244093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6</a:t>
            </a:fld>
            <a:endParaRPr spc="-50" dirty="0"/>
          </a:p>
        </p:txBody>
      </p:sp>
      <p:sp>
        <p:nvSpPr>
          <p:cNvPr id="7" name="Text Box 6"/>
          <p:cNvSpPr txBox="1"/>
          <p:nvPr/>
        </p:nvSpPr>
        <p:spPr>
          <a:xfrm>
            <a:off x="356870" y="1524000"/>
            <a:ext cx="11676378" cy="498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Content Body"/>
          <p:cNvSpPr>
            <a:spLocks noGrp="1"/>
          </p:cNvSpPr>
          <p:nvPr>
            <p:ph type="body" idx="1"/>
          </p:nvPr>
        </p:nvSpPr>
        <p:spPr>
          <a:xfrm>
            <a:off x="967232" y="2158000"/>
            <a:ext cx="10591800" cy="470000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Forecasting: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historical averages and simple statistical methods.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Only: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SCADA tracks flow and pressure but lacks prediction.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Decisions: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Pumping and distribution depend on operator experience.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Detection: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Leaks and anomalies are mainly found through inspections or complaints.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Gap: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integrated AI-based prediction, optimization, and anomaly detection.</a:t>
            </a:r>
          </a:p>
        </p:txBody>
      </p:sp>
    </p:spTree>
    <p:extLst>
      <p:ext uri="{BB962C8B-B14F-4D97-AF65-F5344CB8AC3E}">
        <p14:creationId xmlns:p14="http://schemas.microsoft.com/office/powerpoint/2010/main" val="3368620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4761" y="412789"/>
            <a:ext cx="8740425" cy="804451"/>
          </a:xfrm>
          <a:prstGeom prst="rect">
            <a:avLst/>
          </a:prstGeom>
        </p:spPr>
        <p:txBody>
          <a:bodyPr vert="horz" wrap="square" lIns="0" tIns="187071" rIns="0" bIns="0" rtlCol="0">
            <a:spAutoFit/>
          </a:bodyPr>
          <a:lstStyle/>
          <a:p>
            <a:pPr marL="2054225">
              <a:lnSpc>
                <a:spcPct val="100000"/>
              </a:lnSpc>
              <a:spcBef>
                <a:spcPts val="105"/>
              </a:spcBef>
            </a:pPr>
            <a:r>
              <a:rPr lang="en-US" sz="40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Drawback</a:t>
            </a:r>
            <a:endParaRPr sz="4000" b="1" spc="-1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811139" y="6474967"/>
            <a:ext cx="56451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10"/>
              <a:t>EEA1306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304778" y="6474967"/>
            <a:ext cx="244093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7</a:t>
            </a:fld>
            <a:endParaRPr spc="-50" dirty="0"/>
          </a:p>
        </p:txBody>
      </p:sp>
      <p:sp>
        <p:nvSpPr>
          <p:cNvPr id="7" name="Text Box 6"/>
          <p:cNvSpPr txBox="1"/>
          <p:nvPr/>
        </p:nvSpPr>
        <p:spPr>
          <a:xfrm>
            <a:off x="356870" y="1524000"/>
            <a:ext cx="11676378" cy="498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Content Body"/>
          <p:cNvSpPr>
            <a:spLocks noGrp="1"/>
          </p:cNvSpPr>
          <p:nvPr>
            <p:ph type="body" idx="1"/>
          </p:nvPr>
        </p:nvSpPr>
        <p:spPr>
          <a:xfrm>
            <a:off x="899159" y="2228749"/>
            <a:ext cx="10591800" cy="4700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forecasting accuracy, since weather, seasonal trends, and event-based demand spikes are not accounted for.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automated optimization of pump scheduling or distribution planning.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leak and anomaly detection leads to significant water loss before issues are identified.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reliance on manual effort, which is time-consuming and prone to human error.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a centralized dashboard for real-time monitoring and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1193930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3197E-E45A-0F9F-F3E5-E15A97A86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6A6FC-9A91-20AA-FFBF-0461D4209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320" y="145256"/>
            <a:ext cx="7981795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2A0E3-E159-8CCC-B184-B04002578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940" y="1483410"/>
            <a:ext cx="10151884" cy="5263077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Demand Prediction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historical water usage, weather, and seasonal data to predict future water demand.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Monitoring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Monitors water consumption, tank levels, rainfall, and available water resources.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Resource Allocation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Automatically suggests how much water should be supplied to different areas based on predicted demand.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Shortage &amp; Leakage Alerts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unusual consumption and warns about possible shortages or wastage.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&amp; Sustainable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Reduces water wastage, improves distribution, and supports better long-term water resource planning.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CE1A44-31DA-0B8D-A5F2-07ED33297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76" y="365125"/>
            <a:ext cx="1139144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9EE29D-A232-1323-327A-A87DC47C3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499" y="350838"/>
            <a:ext cx="83860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577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6F373-91D3-228A-C13A-ECB6CC2A6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428" y="311131"/>
            <a:ext cx="8961120" cy="900113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6FFE21-1101-031D-A7CD-7674C0B9D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36" y="365125"/>
            <a:ext cx="1118824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A8F6A8-6A41-9B57-2C95-05F2BCD36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499" y="350838"/>
            <a:ext cx="83860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D1D5B096-DB7C-95C9-3289-063402A868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054913"/>
              </p:ext>
            </p:extLst>
          </p:nvPr>
        </p:nvGraphicFramePr>
        <p:xfrm>
          <a:off x="864973" y="1357836"/>
          <a:ext cx="10462054" cy="524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872">
                  <a:extLst>
                    <a:ext uri="{9D8B030D-6E8A-4147-A177-3AD203B41FA5}">
                      <a16:colId xmlns:a16="http://schemas.microsoft.com/office/drawing/2014/main" val="2793152081"/>
                    </a:ext>
                  </a:extLst>
                </a:gridCol>
                <a:gridCol w="4015156">
                  <a:extLst>
                    <a:ext uri="{9D8B030D-6E8A-4147-A177-3AD203B41FA5}">
                      <a16:colId xmlns:a16="http://schemas.microsoft.com/office/drawing/2014/main" val="3006733364"/>
                    </a:ext>
                  </a:extLst>
                </a:gridCol>
                <a:gridCol w="2615513">
                  <a:extLst>
                    <a:ext uri="{9D8B030D-6E8A-4147-A177-3AD203B41FA5}">
                      <a16:colId xmlns:a16="http://schemas.microsoft.com/office/drawing/2014/main" val="1314079319"/>
                    </a:ext>
                  </a:extLst>
                </a:gridCol>
                <a:gridCol w="2615513">
                  <a:extLst>
                    <a:ext uri="{9D8B030D-6E8A-4147-A177-3AD203B41FA5}">
                      <a16:colId xmlns:a16="http://schemas.microsoft.com/office/drawing/2014/main" val="1118996258"/>
                    </a:ext>
                  </a:extLst>
                </a:gridCol>
              </a:tblGrid>
              <a:tr h="33665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41694"/>
                  </a:ext>
                </a:extLst>
              </a:tr>
              <a:tr h="796282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Water Demand Forecasting Using Machine Learning Models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prediction accuracy using historical data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depends on data quality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0022665"/>
                  </a:ext>
                </a:extLst>
              </a:tr>
              <a:tr h="796282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Water Resource Management Using AI and IoT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monitoring reduces water wastage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implementation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7469422"/>
                  </a:ext>
                </a:extLst>
              </a:tr>
              <a:tr h="796282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Approach for Urban Water Demand Prediction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complex patterns and large data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high computational power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709596"/>
                  </a:ext>
                </a:extLst>
              </a:tr>
              <a:tr h="796282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Water Distribution Optimization System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efficiency and reduces water loss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scalability in rural areas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447453"/>
                  </a:ext>
                </a:extLst>
              </a:tr>
              <a:tr h="1301264"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Sustainable Water Management Using AI Forecasting Techniques</a:t>
                      </a: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long-term planning and sustainability</a:t>
                      </a: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50000"/>
                        </a:lnSpc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continuous data updates</a:t>
                      </a:r>
                    </a:p>
                  </a:txBody>
                  <a:tcPr marB="182880" anchor="ctr"/>
                </a:tc>
                <a:extLst>
                  <a:ext uri="{0D108BD9-81ED-4DB2-BD59-A6C34878D82A}">
                    <a16:rowId xmlns:a16="http://schemas.microsoft.com/office/drawing/2014/main" val="1639916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466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93C0D-CD7B-2A38-B01F-E917B72B9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242" y="365125"/>
            <a:ext cx="8980990" cy="914400"/>
          </a:xfrm>
        </p:spPr>
        <p:txBody>
          <a:bodyPr>
            <a:norm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9B0F8-1A48-2FCD-B6E9-B0089B3BD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2005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water consumption data from domestic, agricultural, and industrial sectors to analyze usage patterns and seasonal trends.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and climate data such as rainfall, temperature, humidity, and drought conditions affecting water demand and availability.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growth and urban development data used to estimate future water requirements.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Reservoir, river, and groundwater level data to assess available water resources and plan distribution.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irrigation and industrial water usage data to optimize allocation and reduce wastage.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50738E-D130-A486-4D48-D5287990F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76" y="365125"/>
            <a:ext cx="1139144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5539A-4DA3-41C5-D9BE-76ED7707A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499" y="350838"/>
            <a:ext cx="83860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23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5BD10-714C-B10E-C511-679259CBD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99" y="145256"/>
            <a:ext cx="9630137" cy="1325563"/>
          </a:xfrm>
        </p:spPr>
        <p:txBody>
          <a:bodyPr>
            <a:noAutofit/>
          </a:bodyPr>
          <a:lstStyle/>
          <a:p>
            <a:r>
              <a:rPr lang="en-IN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717" y="1265238"/>
            <a:ext cx="9010185" cy="537099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03EAD7-D472-9713-38AE-0D78E19D6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73" y="365125"/>
            <a:ext cx="1139144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79A43E-3E82-6C35-92D8-26421C7F7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499" y="350838"/>
            <a:ext cx="83860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467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3714E-6925-F96E-2336-B79706D8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685" y="152399"/>
            <a:ext cx="10046282" cy="1325563"/>
          </a:xfrm>
        </p:spPr>
        <p:txBody>
          <a:bodyPr>
            <a:noAutofit/>
          </a:bodyPr>
          <a:lstStyle/>
          <a:p>
            <a:pPr>
              <a:tabLst>
                <a:tab pos="6192838" algn="l"/>
              </a:tabLst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Module 1: Data Acquisition &amp; Preprocessing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F9530-A074-2AFA-AF67-5DD4EDBD1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150" y="1690688"/>
            <a:ext cx="10805531" cy="4667250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water usage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households, industries, agriculture, tanks etc.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weather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rainfall, temperature, and humidity to understand demand variations.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and validates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handling missing values, duplicate records, and abnormal readings.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useful features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daily consumption, peak-hour usage, seasonal demand, and storage levels.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AI-ready dataset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normalizing and organizing all information for accurate prediction.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F342D0-38FB-A1FB-A752-0BC269080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73" y="365125"/>
            <a:ext cx="1139144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9B6AB7-300A-6663-0430-81297F0F5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499" y="350838"/>
            <a:ext cx="83860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692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3C174-6F83-65DD-E15B-57C286BEC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398"/>
            <a:ext cx="10515600" cy="4662763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future water demand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machine-learning models based on historical and environmental patterns.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peak-demand periods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anticipates possible shortages before they occur.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water allocation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matching available resources with the predicted requirement of each area.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what-if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estimate the impact of drought, rainfall changes, population growth, or increased consumption.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an efficient supply plan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minimizes wastage while maintaining sufficient water availability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11974-62D4-DBB8-A907-85D757744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73" y="365125"/>
            <a:ext cx="1139144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25D47F-9141-5C36-48D2-886D55D79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499" y="350838"/>
            <a:ext cx="83860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C84A2F4-4DF2-FA02-6138-4BADFA542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2386" y="517297"/>
            <a:ext cx="7429536" cy="900113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Water Demand Forecasting &amp; Resource Optimization</a:t>
            </a:r>
          </a:p>
        </p:txBody>
      </p:sp>
    </p:spTree>
    <p:extLst>
      <p:ext uri="{BB962C8B-B14F-4D97-AF65-F5344CB8AC3E}">
        <p14:creationId xmlns:p14="http://schemas.microsoft.com/office/powerpoint/2010/main" val="2903692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1833A-E1F0-9742-1626-413D016B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6557" y="365125"/>
            <a:ext cx="8738886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Monitoring, Visualization &amp; Control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6ADE7-C5BF-859D-1683-F97F34326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real-time dashboard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water demand, consumption, storage, and predicted requirements. 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area-wise water status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high-demand and low-supply regions quickly. 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intelligent alerts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shortages, abnormal consumption, possible leakage, and critical storage levels. 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system performance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indicators such as forecast accuracy, water saved, and resource utilization. 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decision-making and control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allowing authorities to monitor conditions and adjust water distribution based on AI recommendations.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92509F-61A1-ED35-7090-4CCB788B4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499" y="350838"/>
            <a:ext cx="83860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76F50A-EC05-53C6-977C-3F8A918E5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73" y="365125"/>
            <a:ext cx="1139144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350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8FF57-10C6-23EA-1529-D579096A7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1868" y="365125"/>
            <a:ext cx="8437945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RESULT &amp; OUTPUT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6D810A-80D4-E849-3AC9-371BF3066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16" y="1378172"/>
            <a:ext cx="3956004" cy="3853585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158712-B359-39B3-D1E0-7F8F55478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73" y="365125"/>
            <a:ext cx="1139144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83828D-CC65-3BBD-A65F-1FE180990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499" y="350838"/>
            <a:ext cx="83860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124EC9-2EAB-BC7E-746C-8AF0A356BC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588" y="1505493"/>
            <a:ext cx="4467225" cy="35989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7F3AFD-376D-60DF-A1F8-2643F7324C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16" y="5568529"/>
            <a:ext cx="4572000" cy="6762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C4D844-2802-FA43-FE6C-FBE7A465E4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588" y="5568528"/>
            <a:ext cx="48672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95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D9393-1334-4C7D-E160-E67316948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3473" y="127814"/>
            <a:ext cx="9034347" cy="1137424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C7C50-265B-7BBD-B24C-6EA8A279B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IoT and Smart Sensors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versions can integrate real-time IoT sensors for water level, flow rate, pressure, and quality to improve prediction accuracy and instant decision-making.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Deep Learning Models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LSTM, GRU, Transformer, and hybrid deep learning models can enhance long-term and seasonal water demand forecasting.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Renewable Energy Systems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Coordinating water pumping and treatment operations with renewable energy availability to reduce operational costs.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Water Pricing and Demand Management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 strategies based on predicted demand to encourage efficient water usage.</a:t>
            </a:r>
            <a:br>
              <a:rPr lang="en-US" sz="3000" dirty="0"/>
            </a:br>
            <a:endParaRPr lang="en-IN"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C6EA7-48A4-4DF9-0857-C4749E8AB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73" y="365125"/>
            <a:ext cx="1139144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135E2E-5250-84C7-C62A-3F008C711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6683" y="350838"/>
            <a:ext cx="95641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7673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F9A39-551A-4ECA-1CDC-27AAB2B8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888" y="345573"/>
            <a:ext cx="5694745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4C55A-B1A4-F988-E9A3-EC1760DF8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AI-based system effectively analyzes large volumes of data to accurately predict future water demand across different regions.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resource optimization helps reduce water wastage while ensuring sufficient supply for all sectors.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and real-time control improve overall efficiency and reliability of water management systems.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informed decision-making by providing clear insights and actionable forecasts to authorities.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solution promotes sustainable, efficient, and long-term water resource management.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CEAD06-B89B-563F-3767-9203C7004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499" y="350838"/>
            <a:ext cx="83860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763A2E-79B6-6FF0-F011-4446FE93C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73" y="365125"/>
            <a:ext cx="1139144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567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A08F-7AE0-837E-6D3C-7AB575AE7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854" y="219868"/>
            <a:ext cx="4872942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3DE4A-C361-1111-97DD-5F2865178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550" y="1353421"/>
            <a:ext cx="11031257" cy="513945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Adamowski</a:t>
            </a:r>
            <a:r>
              <a:rPr lang="en-US" sz="16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, J., &amp; </a:t>
            </a:r>
            <a:r>
              <a:rPr lang="en-US" sz="1600" b="1" dirty="0" err="1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Karapataki</a:t>
            </a:r>
            <a:r>
              <a:rPr lang="en-US" sz="16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, C. (2024).</a:t>
            </a:r>
            <a:br>
              <a:rPr lang="en-US" sz="16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Comparison of multivariate regression and artificial neural networks for peak urban water-demand forecasting.</a:t>
            </a:r>
            <a:br>
              <a:rPr lang="en-US" sz="16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Journal of Hydrologic Engineering, 15(10), 729–743.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Zhang, G., </a:t>
            </a:r>
            <a:r>
              <a:rPr lang="en-US" sz="1600" b="1" dirty="0" err="1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Patuwo</a:t>
            </a:r>
            <a:r>
              <a:rPr lang="en-US" sz="16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, B. E., &amp; Hu, M. Y. (2022).</a:t>
            </a:r>
            <a:br>
              <a:rPr lang="en-US" sz="16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Forecasting with artificial neural networks: The state of the art.</a:t>
            </a:r>
            <a:br>
              <a:rPr lang="en-US" sz="16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International Journal of Forecasting, 14(1), 35–62.</a:t>
            </a:r>
            <a:endParaRPr lang="en-US" sz="16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Donkor, E. A., </a:t>
            </a:r>
            <a:r>
              <a:rPr lang="en-US" sz="1600" b="1" dirty="0" err="1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Mazzuchi</a:t>
            </a:r>
            <a:r>
              <a:rPr lang="en-US" sz="16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, T. A., </a:t>
            </a:r>
            <a:r>
              <a:rPr lang="en-US" sz="1600" b="1" dirty="0" err="1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Soyer</a:t>
            </a:r>
            <a:r>
              <a:rPr lang="en-US" sz="16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, R., &amp; Roberson, J. A. (2023).</a:t>
            </a:r>
            <a:br>
              <a:rPr lang="en-US" sz="16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Urban water demand forecasting: Review of methods and models.</a:t>
            </a:r>
            <a:br>
              <a:rPr lang="en-US" sz="16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Journal of Water Resources Planning and Management, 140(2), 146–159.</a:t>
            </a:r>
            <a:endParaRPr lang="en-US" sz="16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Giustolisi</a:t>
            </a:r>
            <a:r>
              <a:rPr lang="en-US" sz="16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, O., &amp; Savic, D. A. (2025).</a:t>
            </a:r>
            <a:br>
              <a:rPr lang="en-US" sz="16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A symbolic data-driven technique based on evolutionary polynomial regression.</a:t>
            </a:r>
            <a:br>
              <a:rPr lang="en-US" sz="16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Journal of </a:t>
            </a:r>
            <a:r>
              <a:rPr lang="en-US" sz="1600" b="1" dirty="0" err="1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Hydroinformatics</a:t>
            </a:r>
            <a:r>
              <a:rPr lang="en-US" sz="1600" b="1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, 8(3), 207–222.</a:t>
            </a:r>
            <a:r>
              <a:rPr lang="en-US" sz="16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br>
              <a:rPr lang="en-US" sz="1600"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ea typeface="SimSun-ExtB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8275DF-A77C-25FE-B6EF-0A765261C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73" y="365125"/>
            <a:ext cx="1139144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8FDC6A-988E-D055-7986-21066DAAD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4499" y="350838"/>
            <a:ext cx="83860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475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DBA59-DBD1-53E1-7B19-54BC7F822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2464" y="2316278"/>
            <a:ext cx="7112620" cy="19769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96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93034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1383</Words>
  <Application>Microsoft Office PowerPoint</Application>
  <PresentationFormat>Widescreen</PresentationFormat>
  <Paragraphs>129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ABSTRACT</vt:lpstr>
      <vt:lpstr>       INTRODUCTION</vt:lpstr>
      <vt:lpstr>              PROBLEM STATEMENT</vt:lpstr>
      <vt:lpstr>OBJECTIVES</vt:lpstr>
      <vt:lpstr>Existing System</vt:lpstr>
      <vt:lpstr>Existing System Drawback</vt:lpstr>
      <vt:lpstr>              PRAPOSED SYSTEM</vt:lpstr>
      <vt:lpstr>             LITERATURE REVIEW</vt:lpstr>
      <vt:lpstr>             DATASETS USED</vt:lpstr>
      <vt:lpstr>             ARCHITECTURE DIAGRAM</vt:lpstr>
      <vt:lpstr>   Module 1: Data Acquisition &amp; Preprocessing</vt:lpstr>
      <vt:lpstr>Module 2: AI-Based Water Demand Forecasting &amp; Resource Optimization</vt:lpstr>
      <vt:lpstr>Module 3: Monitoring, Visualization &amp; Control</vt:lpstr>
      <vt:lpstr>                     RESULT &amp; OUTPUT</vt:lpstr>
      <vt:lpstr>                                  Future Scope</vt:lpstr>
      <vt:lpstr>           CONCLUSION</vt:lpstr>
      <vt:lpstr>        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Christilla sweety</dc:creator>
  <cp:lastModifiedBy>Kalyani Reddy</cp:lastModifiedBy>
  <cp:revision>7</cp:revision>
  <dcterms:created xsi:type="dcterms:W3CDTF">2026-02-01T15:43:09Z</dcterms:created>
  <dcterms:modified xsi:type="dcterms:W3CDTF">2026-08-12T05:55:43Z</dcterms:modified>
</cp:coreProperties>
</file>